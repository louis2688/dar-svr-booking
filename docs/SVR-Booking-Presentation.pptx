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583680" cy="6583680"/>
          </a:xfrm>
          <a:prstGeom prst="ellipse">
            <a:avLst/>
          </a:prstGeom>
          <a:solidFill>
            <a:srgbClr val="0F7A4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023360"/>
            <a:ext cx="5669280" cy="5669280"/>
          </a:xfrm>
          <a:prstGeom prst="ellipse">
            <a:avLst/>
          </a:prstGeom>
          <a:solidFill>
            <a:srgbClr val="E8A93A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77440" y="914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AGRARIAN REFORM  ·  PROVINCIAL OFFICE, MARINDUQUE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Vehicle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System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45262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transparent home for requesting, approving, and tracking every official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— replacing paper slips with one shared record everyone can see.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5669280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0F7A4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6692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svr-booking-dar.vercel.app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94960" y="56692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slips don't scale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 office vehicle the old way means walking a slip between offices, hoping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double-books the same van, and re-typing the same details onto a printed 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292790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651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record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30449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office keeps its own slips — nobody can see the full picture at a glance.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86791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9" y="4098341"/>
            <a:ext cx="362102" cy="3621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38221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approvals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737360" y="421538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wait for a physical signature before a vehicle can be confirmed.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5038344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5268773"/>
            <a:ext cx="362102" cy="3621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49926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737360" y="5385816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staff can claim the same vehicle and time without knowing it.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MARINDUQUE   ·   SVR BOOKING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from request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printed 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Booking gives every staff member a live view of vehicle availability, and gives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one place to assign, approve, and track every trip.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3246120" cy="1280160"/>
          </a:xfrm>
          <a:prstGeom prst="roundRect">
            <a:avLst>
              <a:gd name="adj" fmla="val 10000"/>
            </a:avLst>
          </a:prstGeom>
          <a:solidFill>
            <a:srgbClr val="F6F8F5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35844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988" y="3743188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4224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calendar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1248" y="44439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booked slots for the month at a glance.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14800" y="3383280"/>
            <a:ext cx="3246120" cy="1280160"/>
          </a:xfrm>
          <a:prstGeom prst="roundRect">
            <a:avLst>
              <a:gd name="adj" fmla="val 10000"/>
            </a:avLst>
          </a:prstGeom>
          <a:solidFill>
            <a:srgbClr val="F6F8F5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15968" y="35844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08" y="3743188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15968" y="4224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approvals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315968" y="44439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assign the vehicle, then approve or reject.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40080" y="4892040"/>
            <a:ext cx="3246120" cy="1280160"/>
          </a:xfrm>
          <a:prstGeom prst="roundRect">
            <a:avLst>
              <a:gd name="adj" fmla="val 10000"/>
            </a:avLst>
          </a:prstGeom>
          <a:solidFill>
            <a:srgbClr val="F6F8F5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509320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88" y="5251948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" y="57332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printed form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41248" y="59527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exact DAR paper form, two copies.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114800" y="4892040"/>
            <a:ext cx="3246120" cy="1280160"/>
          </a:xfrm>
          <a:prstGeom prst="roundRect">
            <a:avLst>
              <a:gd name="adj" fmla="val 10000"/>
            </a:avLst>
          </a:prstGeom>
          <a:solidFill>
            <a:srgbClr val="F6F8F5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315968" y="509320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708" y="5251948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315968" y="57332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everywhere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315968" y="59527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Desktop, browser, and the Android app.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635240" y="777240"/>
            <a:ext cx="3886200" cy="5532120"/>
          </a:xfrm>
          <a:prstGeom prst="roundRect">
            <a:avLst>
              <a:gd name="adj" fmla="val 4235"/>
            </a:avLst>
          </a:prstGeom>
          <a:solidFill>
            <a:srgbClr val="0C3D24"/>
          </a:solidFill>
          <a:ln/>
        </p:spPr>
      </p:sp>
      <p:sp>
        <p:nvSpPr>
          <p:cNvPr id="26" name="Text 20"/>
          <p:cNvSpPr/>
          <p:nvPr/>
        </p:nvSpPr>
        <p:spPr>
          <a:xfrm>
            <a:off x="800100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001000" y="15087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8" name="Text 22"/>
          <p:cNvSpPr/>
          <p:nvPr/>
        </p:nvSpPr>
        <p:spPr>
          <a:xfrm>
            <a:off x="8001000" y="1508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8001000" y="20116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8F2E2"/>
          </a:solidFill>
          <a:ln/>
        </p:spPr>
      </p:sp>
      <p:sp>
        <p:nvSpPr>
          <p:cNvPr id="30" name="Text 24"/>
          <p:cNvSpPr/>
          <p:nvPr/>
        </p:nvSpPr>
        <p:spPr>
          <a:xfrm>
            <a:off x="8001000" y="20116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8001000" y="25146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DE2E1"/>
          </a:solidFill>
          <a:ln/>
        </p:spPr>
      </p:sp>
      <p:sp>
        <p:nvSpPr>
          <p:cNvPr id="32" name="Text 26"/>
          <p:cNvSpPr/>
          <p:nvPr/>
        </p:nvSpPr>
        <p:spPr>
          <a:xfrm>
            <a:off x="8001000" y="25146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001000" y="30175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9EDEA"/>
          </a:solidFill>
          <a:ln/>
        </p:spPr>
      </p:sp>
      <p:sp>
        <p:nvSpPr>
          <p:cNvPr id="34" name="Text 28"/>
          <p:cNvSpPr/>
          <p:nvPr/>
        </p:nvSpPr>
        <p:spPr>
          <a:xfrm>
            <a:off x="8001000" y="30175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800100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2026-07-0229A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8001000" y="4069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Adventure · SJD-405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9, 2026 · 8:00 AM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8001000" y="4846320"/>
            <a:ext cx="3200400" cy="0"/>
          </a:xfrm>
          <a:prstGeom prst="line">
            <a:avLst/>
          </a:prstGeom>
          <a:noFill/>
          <a:ln w="12700">
            <a:solidFill>
              <a:srgbClr val="1E5B3A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001000" y="4983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F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Brgy. Bagacay, Buenavista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F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 Training re: Policy Dev.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MARINDUQUE   ·   SVR BOOKING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opens to the same live overview — pending, approved, rejected, and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counts, plus a full year of activity.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587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41248" y="33832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3832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242316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74136" y="2587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55848" y="28346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3374136" y="33832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8F2E2"/>
          </a:solidFill>
          <a:ln/>
        </p:spPr>
      </p:sp>
      <p:sp>
        <p:nvSpPr>
          <p:cNvPr id="14" name="Text 12"/>
          <p:cNvSpPr/>
          <p:nvPr/>
        </p:nvSpPr>
        <p:spPr>
          <a:xfrm>
            <a:off x="3374136" y="33832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05856" y="242316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07024" y="2587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88736" y="28346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5907024" y="33832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DE2E1"/>
          </a:solidFill>
          <a:ln/>
        </p:spPr>
      </p:sp>
      <p:sp>
        <p:nvSpPr>
          <p:cNvPr id="19" name="Text 17"/>
          <p:cNvSpPr/>
          <p:nvPr/>
        </p:nvSpPr>
        <p:spPr>
          <a:xfrm>
            <a:off x="5907024" y="33832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38744" y="242316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39912" y="2587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21624" y="28346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8439912" y="33832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9EDEA"/>
          </a:solidFill>
          <a:ln/>
        </p:spPr>
      </p:sp>
      <p:sp>
        <p:nvSpPr>
          <p:cNvPr id="24" name="Text 22"/>
          <p:cNvSpPr/>
          <p:nvPr/>
        </p:nvSpPr>
        <p:spPr>
          <a:xfrm>
            <a:off x="8439912" y="33832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16052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4315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Overview  ·  2026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55497" y="5568696"/>
            <a:ext cx="378866" cy="54864"/>
          </a:xfrm>
          <a:prstGeom prst="roundRect">
            <a:avLst>
              <a:gd name="adj" fmla="val 50000"/>
            </a:avLst>
          </a:prstGeom>
          <a:solidFill>
            <a:srgbClr val="DDE6D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678424"/>
            <a:ext cx="861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6557" y="5568696"/>
            <a:ext cx="378866" cy="54864"/>
          </a:xfrm>
          <a:prstGeom prst="roundRect">
            <a:avLst>
              <a:gd name="adj" fmla="val 50000"/>
            </a:avLst>
          </a:prstGeom>
          <a:solidFill>
            <a:srgbClr val="DDE6DF"/>
          </a:solidFill>
          <a:ln/>
        </p:spPr>
      </p:sp>
      <p:sp>
        <p:nvSpPr>
          <p:cNvPr id="30" name="Text 28"/>
          <p:cNvSpPr/>
          <p:nvPr/>
        </p:nvSpPr>
        <p:spPr>
          <a:xfrm>
            <a:off x="1775460" y="5678424"/>
            <a:ext cx="861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877617" y="5568696"/>
            <a:ext cx="378866" cy="54864"/>
          </a:xfrm>
          <a:prstGeom prst="roundRect">
            <a:avLst>
              <a:gd name="adj" fmla="val 50000"/>
            </a:avLst>
          </a:prstGeom>
          <a:solidFill>
            <a:srgbClr val="DDE6DF"/>
          </a:solidFill>
          <a:ln/>
        </p:spPr>
      </p:sp>
      <p:sp>
        <p:nvSpPr>
          <p:cNvPr id="32" name="Text 30"/>
          <p:cNvSpPr/>
          <p:nvPr/>
        </p:nvSpPr>
        <p:spPr>
          <a:xfrm>
            <a:off x="2636520" y="5678424"/>
            <a:ext cx="861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38677" y="5568696"/>
            <a:ext cx="378866" cy="54864"/>
          </a:xfrm>
          <a:prstGeom prst="roundRect">
            <a:avLst>
              <a:gd name="adj" fmla="val 50000"/>
            </a:avLst>
          </a:prstGeom>
          <a:solidFill>
            <a:srgbClr val="DDE6DF"/>
          </a:solidFill>
          <a:ln/>
        </p:spPr>
      </p:sp>
      <p:sp>
        <p:nvSpPr>
          <p:cNvPr id="34" name="Text 32"/>
          <p:cNvSpPr/>
          <p:nvPr/>
        </p:nvSpPr>
        <p:spPr>
          <a:xfrm>
            <a:off x="3497580" y="5678424"/>
            <a:ext cx="861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99737" y="5568696"/>
            <a:ext cx="378866" cy="54864"/>
          </a:xfrm>
          <a:prstGeom prst="roundRect">
            <a:avLst>
              <a:gd name="adj" fmla="val 50000"/>
            </a:avLst>
          </a:prstGeom>
          <a:solidFill>
            <a:srgbClr val="DDE6DF"/>
          </a:solidFill>
          <a:ln/>
        </p:spPr>
      </p:sp>
      <p:sp>
        <p:nvSpPr>
          <p:cNvPr id="36" name="Text 34"/>
          <p:cNvSpPr/>
          <p:nvPr/>
        </p:nvSpPr>
        <p:spPr>
          <a:xfrm>
            <a:off x="4358640" y="5678424"/>
            <a:ext cx="861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60797" y="5568696"/>
            <a:ext cx="378866" cy="54864"/>
          </a:xfrm>
          <a:prstGeom prst="roundRect">
            <a:avLst>
              <a:gd name="adj" fmla="val 50000"/>
            </a:avLst>
          </a:prstGeom>
          <a:solidFill>
            <a:srgbClr val="DDE6DF"/>
          </a:solidFill>
          <a:ln/>
        </p:spPr>
      </p:sp>
      <p:sp>
        <p:nvSpPr>
          <p:cNvPr id="38" name="Text 36"/>
          <p:cNvSpPr/>
          <p:nvPr/>
        </p:nvSpPr>
        <p:spPr>
          <a:xfrm>
            <a:off x="5219700" y="5678424"/>
            <a:ext cx="861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21857" y="4700016"/>
            <a:ext cx="378866" cy="923544"/>
          </a:xfrm>
          <a:prstGeom prst="roundRect">
            <a:avLst>
              <a:gd name="adj" fmla="val 7241"/>
            </a:avLst>
          </a:prstGeom>
          <a:solidFill>
            <a:srgbClr val="0F7A41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5678424"/>
            <a:ext cx="861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82917" y="5568696"/>
            <a:ext cx="378866" cy="54864"/>
          </a:xfrm>
          <a:prstGeom prst="roundRect">
            <a:avLst>
              <a:gd name="adj" fmla="val 50000"/>
            </a:avLst>
          </a:prstGeom>
          <a:solidFill>
            <a:srgbClr val="DDE6DF"/>
          </a:solidFill>
          <a:ln/>
        </p:spPr>
      </p:sp>
      <p:sp>
        <p:nvSpPr>
          <p:cNvPr id="42" name="Text 40"/>
          <p:cNvSpPr/>
          <p:nvPr/>
        </p:nvSpPr>
        <p:spPr>
          <a:xfrm>
            <a:off x="6941820" y="5678424"/>
            <a:ext cx="861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043977" y="5568696"/>
            <a:ext cx="378866" cy="54864"/>
          </a:xfrm>
          <a:prstGeom prst="roundRect">
            <a:avLst>
              <a:gd name="adj" fmla="val 50000"/>
            </a:avLst>
          </a:prstGeom>
          <a:solidFill>
            <a:srgbClr val="DDE6DF"/>
          </a:solidFill>
          <a:ln/>
        </p:spPr>
      </p:sp>
      <p:sp>
        <p:nvSpPr>
          <p:cNvPr id="44" name="Text 42"/>
          <p:cNvSpPr/>
          <p:nvPr/>
        </p:nvSpPr>
        <p:spPr>
          <a:xfrm>
            <a:off x="7802880" y="5678424"/>
            <a:ext cx="861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905037" y="5568696"/>
            <a:ext cx="378866" cy="54864"/>
          </a:xfrm>
          <a:prstGeom prst="roundRect">
            <a:avLst>
              <a:gd name="adj" fmla="val 50000"/>
            </a:avLst>
          </a:prstGeom>
          <a:solidFill>
            <a:srgbClr val="DDE6DF"/>
          </a:solidFill>
          <a:ln/>
        </p:spPr>
      </p:sp>
      <p:sp>
        <p:nvSpPr>
          <p:cNvPr id="46" name="Text 44"/>
          <p:cNvSpPr/>
          <p:nvPr/>
        </p:nvSpPr>
        <p:spPr>
          <a:xfrm>
            <a:off x="8663940" y="5678424"/>
            <a:ext cx="861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766097" y="5568696"/>
            <a:ext cx="378866" cy="54864"/>
          </a:xfrm>
          <a:prstGeom prst="roundRect">
            <a:avLst>
              <a:gd name="adj" fmla="val 50000"/>
            </a:avLst>
          </a:prstGeom>
          <a:solidFill>
            <a:srgbClr val="DDE6DF"/>
          </a:solidFill>
          <a:ln/>
        </p:spPr>
      </p:sp>
      <p:sp>
        <p:nvSpPr>
          <p:cNvPr id="48" name="Text 46"/>
          <p:cNvSpPr/>
          <p:nvPr/>
        </p:nvSpPr>
        <p:spPr>
          <a:xfrm>
            <a:off x="9525000" y="5678424"/>
            <a:ext cx="861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627157" y="5568696"/>
            <a:ext cx="378866" cy="54864"/>
          </a:xfrm>
          <a:prstGeom prst="roundRect">
            <a:avLst>
              <a:gd name="adj" fmla="val 50000"/>
            </a:avLst>
          </a:prstGeom>
          <a:solidFill>
            <a:srgbClr val="DDE6DF"/>
          </a:solidFill>
          <a:ln/>
        </p:spPr>
      </p:sp>
      <p:sp>
        <p:nvSpPr>
          <p:cNvPr id="50" name="Text 48"/>
          <p:cNvSpPr/>
          <p:nvPr/>
        </p:nvSpPr>
        <p:spPr>
          <a:xfrm>
            <a:off x="10386060" y="5678424"/>
            <a:ext cx="861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MARINDUQUE   ·   SVR BOOKING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booking flows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83664" y="2404872"/>
            <a:ext cx="8485632" cy="0"/>
          </a:xfrm>
          <a:prstGeom prst="line">
            <a:avLst/>
          </a:prstGeom>
          <a:noFill/>
          <a:ln w="25400">
            <a:solidFill>
              <a:srgbClr val="DDE6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2148840"/>
            <a:ext cx="512064" cy="512064"/>
          </a:xfrm>
          <a:prstGeom prst="ellipse">
            <a:avLst/>
          </a:prstGeom>
          <a:solidFill>
            <a:srgbClr val="0F7A41"/>
          </a:solidFill>
          <a:ln/>
        </p:spPr>
      </p:sp>
      <p:sp>
        <p:nvSpPr>
          <p:cNvPr id="6" name="Text 4"/>
          <p:cNvSpPr/>
          <p:nvPr/>
        </p:nvSpPr>
        <p:spPr>
          <a:xfrm>
            <a:off x="1627632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1938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submits date, time, destination, and purpose — no vehicle picked yet.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49040" y="2148840"/>
            <a:ext cx="512064" cy="512064"/>
          </a:xfrm>
          <a:prstGeom prst="ellipse">
            <a:avLst/>
          </a:prstGeom>
          <a:solidFill>
            <a:srgbClr val="0F7A41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35808" y="28346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35808" y="3291840"/>
            <a:ext cx="1938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waits for an administrator to review 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70448" y="2148840"/>
            <a:ext cx="512064" cy="512064"/>
          </a:xfrm>
          <a:prstGeom prst="ellipse">
            <a:avLst/>
          </a:prstGeom>
          <a:solidFill>
            <a:srgbClr val="0F7A41"/>
          </a:solidFill>
          <a:ln/>
        </p:spPr>
      </p:sp>
      <p:sp>
        <p:nvSpPr>
          <p:cNvPr id="14" name="Text 12"/>
          <p:cNvSpPr/>
          <p:nvPr/>
        </p:nvSpPr>
        <p:spPr>
          <a:xfrm>
            <a:off x="587044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57216" y="28346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assigned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57216" y="3291840"/>
            <a:ext cx="1938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assigns an available vehicle based on the calendar.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91856" y="2148840"/>
            <a:ext cx="512064" cy="512064"/>
          </a:xfrm>
          <a:prstGeom prst="ellipse">
            <a:avLst/>
          </a:prstGeom>
          <a:solidFill>
            <a:srgbClr val="0F7A41"/>
          </a:solidFill>
          <a:ln/>
        </p:spPr>
      </p:sp>
      <p:sp>
        <p:nvSpPr>
          <p:cNvPr id="18" name="Text 16"/>
          <p:cNvSpPr/>
          <p:nvPr/>
        </p:nvSpPr>
        <p:spPr>
          <a:xfrm>
            <a:off x="799185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78624" y="28346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78624" y="3291840"/>
            <a:ext cx="1938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 is confirmed and gets a control number.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113264" y="2148840"/>
            <a:ext cx="512064" cy="512064"/>
          </a:xfrm>
          <a:prstGeom prst="ellipse">
            <a:avLst/>
          </a:prstGeom>
          <a:solidFill>
            <a:srgbClr val="0F7A41"/>
          </a:solidFill>
          <a:ln/>
        </p:spPr>
      </p:sp>
      <p:sp>
        <p:nvSpPr>
          <p:cNvPr id="22" name="Text 20"/>
          <p:cNvSpPr/>
          <p:nvPr/>
        </p:nvSpPr>
        <p:spPr>
          <a:xfrm>
            <a:off x="10113264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400032" y="28346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form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00032" y="3291840"/>
            <a:ext cx="1938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Request of Vehicle form is printed and signed.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5074920"/>
            <a:ext cx="10607040" cy="1051560"/>
          </a:xfrm>
          <a:prstGeom prst="roundRect">
            <a:avLst>
              <a:gd name="adj" fmla="val 10435"/>
            </a:avLst>
          </a:prstGeom>
          <a:solidFill>
            <a:srgbClr val="F6F8F5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52578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5449824"/>
            <a:ext cx="301752" cy="30175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965960" y="525780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never pick the vehicle themselves — it's assigned at approval, so administrators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match the right vehicle to what's actually free.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MARINDUQUE   ·   SVR BOOKING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sees everything.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admins can change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07492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603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946" y="276514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6243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User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47472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booking requests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" y="393192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bookings &amp; statuses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60120" y="438912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shared calendar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60120" y="484632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any approved form (read-only)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60120" y="530352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feedback to the team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09360" y="2240280"/>
            <a:ext cx="5074920" cy="3931920"/>
          </a:xfrm>
          <a:prstGeom prst="roundRect">
            <a:avLst>
              <a:gd name="adj" fmla="val 3256"/>
            </a:avLst>
          </a:prstGeom>
          <a:solidFill>
            <a:srgbClr val="0C3D24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29400" y="25603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8A93A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226" y="2765146"/>
            <a:ext cx="321869" cy="32186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43800" y="26243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629400" y="34290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250" i="1" dirty="0">
                <a:solidFill>
                  <a:srgbClr val="9F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user can do, plus: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629400" y="383133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vehicles &amp; approve / reject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629400" y="42336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cancel, or delete any booking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629400" y="46360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past bookings &amp; renumber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629400" y="50383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vehicles &amp; signatories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629400" y="54406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Activity History &amp; Feedback Inbox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MARINDUQUE   ·   SVR BOOKING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booking calendar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vehicle — or view all of them together — and see exactly which days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time slots are already taken before requesting.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D8F2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237744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23774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booked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37744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DE2E1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3774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booked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986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26326" y="2880360"/>
            <a:ext cx="986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12571" y="2880360"/>
            <a:ext cx="986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98817" y="2880360"/>
            <a:ext cx="986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85063" y="2880360"/>
            <a:ext cx="986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71309" y="2880360"/>
            <a:ext cx="986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57554" y="2880360"/>
            <a:ext cx="986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26249" y="3227832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19" name="Text 17"/>
          <p:cNvSpPr/>
          <p:nvPr/>
        </p:nvSpPr>
        <p:spPr>
          <a:xfrm>
            <a:off x="3671969" y="3255264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2495" y="3227832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21" name="Text 19"/>
          <p:cNvSpPr/>
          <p:nvPr/>
        </p:nvSpPr>
        <p:spPr>
          <a:xfrm>
            <a:off x="4658215" y="3255264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98741" y="3227832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23" name="Text 21"/>
          <p:cNvSpPr/>
          <p:nvPr/>
        </p:nvSpPr>
        <p:spPr>
          <a:xfrm>
            <a:off x="5644461" y="3255264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4986" y="3227832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25" name="Text 23"/>
          <p:cNvSpPr/>
          <p:nvPr/>
        </p:nvSpPr>
        <p:spPr>
          <a:xfrm>
            <a:off x="6630706" y="3255264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" y="3794760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3822192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53758" y="3794760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29" name="Text 27"/>
          <p:cNvSpPr/>
          <p:nvPr/>
        </p:nvSpPr>
        <p:spPr>
          <a:xfrm>
            <a:off x="1699478" y="3822192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40003" y="3794760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31" name="Text 29"/>
          <p:cNvSpPr/>
          <p:nvPr/>
        </p:nvSpPr>
        <p:spPr>
          <a:xfrm>
            <a:off x="2685723" y="3822192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26249" y="3794760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FDE2E1"/>
          </a:solidFill>
          <a:ln/>
        </p:spPr>
      </p:sp>
      <p:sp>
        <p:nvSpPr>
          <p:cNvPr id="33" name="Text 31"/>
          <p:cNvSpPr/>
          <p:nvPr/>
        </p:nvSpPr>
        <p:spPr>
          <a:xfrm>
            <a:off x="3671969" y="3822192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71969" y="4059936"/>
            <a:ext cx="803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booked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12495" y="3794760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FDE2E1"/>
          </a:solidFill>
          <a:ln/>
        </p:spPr>
      </p:sp>
      <p:sp>
        <p:nvSpPr>
          <p:cNvPr id="36" name="Text 34"/>
          <p:cNvSpPr/>
          <p:nvPr/>
        </p:nvSpPr>
        <p:spPr>
          <a:xfrm>
            <a:off x="4658215" y="3822192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58215" y="4059936"/>
            <a:ext cx="803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booked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598741" y="3794760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/>
        </p:spPr>
      </p:sp>
      <p:sp>
        <p:nvSpPr>
          <p:cNvPr id="39" name="Text 37"/>
          <p:cNvSpPr/>
          <p:nvPr/>
        </p:nvSpPr>
        <p:spPr>
          <a:xfrm>
            <a:off x="5644461" y="3822192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44461" y="4059936"/>
            <a:ext cx="803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booked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584986" y="3794760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42" name="Text 40"/>
          <p:cNvSpPr/>
          <p:nvPr/>
        </p:nvSpPr>
        <p:spPr>
          <a:xfrm>
            <a:off x="6630706" y="3822192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7512" y="4361688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44" name="Text 42"/>
          <p:cNvSpPr/>
          <p:nvPr/>
        </p:nvSpPr>
        <p:spPr>
          <a:xfrm>
            <a:off x="713232" y="4389120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653758" y="4361688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46" name="Text 44"/>
          <p:cNvSpPr/>
          <p:nvPr/>
        </p:nvSpPr>
        <p:spPr>
          <a:xfrm>
            <a:off x="1699478" y="4389120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40003" y="4361688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48" name="Text 46"/>
          <p:cNvSpPr/>
          <p:nvPr/>
        </p:nvSpPr>
        <p:spPr>
          <a:xfrm>
            <a:off x="2685723" y="4389120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26249" y="4361688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50" name="Text 48"/>
          <p:cNvSpPr/>
          <p:nvPr/>
        </p:nvSpPr>
        <p:spPr>
          <a:xfrm>
            <a:off x="3671969" y="4389120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12495" y="4361688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52" name="Text 50"/>
          <p:cNvSpPr/>
          <p:nvPr/>
        </p:nvSpPr>
        <p:spPr>
          <a:xfrm>
            <a:off x="4658215" y="4389120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598741" y="4361688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/>
        </p:spPr>
      </p:sp>
      <p:sp>
        <p:nvSpPr>
          <p:cNvPr id="54" name="Text 52"/>
          <p:cNvSpPr/>
          <p:nvPr/>
        </p:nvSpPr>
        <p:spPr>
          <a:xfrm>
            <a:off x="5644461" y="4389120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644461" y="4626864"/>
            <a:ext cx="803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booked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584986" y="4361688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57" name="Text 55"/>
          <p:cNvSpPr/>
          <p:nvPr/>
        </p:nvSpPr>
        <p:spPr>
          <a:xfrm>
            <a:off x="6630706" y="4389120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67512" y="4928616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59" name="Text 57"/>
          <p:cNvSpPr/>
          <p:nvPr/>
        </p:nvSpPr>
        <p:spPr>
          <a:xfrm>
            <a:off x="713232" y="4956048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653758" y="4928616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61" name="Text 59"/>
          <p:cNvSpPr/>
          <p:nvPr/>
        </p:nvSpPr>
        <p:spPr>
          <a:xfrm>
            <a:off x="1699478" y="4956048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640003" y="4928616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63" name="Text 61"/>
          <p:cNvSpPr/>
          <p:nvPr/>
        </p:nvSpPr>
        <p:spPr>
          <a:xfrm>
            <a:off x="2685723" y="4956048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626249" y="4928616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65" name="Text 63"/>
          <p:cNvSpPr/>
          <p:nvPr/>
        </p:nvSpPr>
        <p:spPr>
          <a:xfrm>
            <a:off x="3671969" y="4956048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612495" y="4928616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67" name="Text 65"/>
          <p:cNvSpPr/>
          <p:nvPr/>
        </p:nvSpPr>
        <p:spPr>
          <a:xfrm>
            <a:off x="4658215" y="4956048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598741" y="4928616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/>
        </p:spPr>
      </p:sp>
      <p:sp>
        <p:nvSpPr>
          <p:cNvPr id="69" name="Text 67"/>
          <p:cNvSpPr/>
          <p:nvPr/>
        </p:nvSpPr>
        <p:spPr>
          <a:xfrm>
            <a:off x="5644461" y="4956048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644461" y="5193792"/>
            <a:ext cx="803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booked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584986" y="4928616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72" name="Text 70"/>
          <p:cNvSpPr/>
          <p:nvPr/>
        </p:nvSpPr>
        <p:spPr>
          <a:xfrm>
            <a:off x="6630706" y="4956048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67512" y="5495544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74" name="Text 72"/>
          <p:cNvSpPr/>
          <p:nvPr/>
        </p:nvSpPr>
        <p:spPr>
          <a:xfrm>
            <a:off x="713232" y="5522976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1653758" y="5495544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76" name="Text 74"/>
          <p:cNvSpPr/>
          <p:nvPr/>
        </p:nvSpPr>
        <p:spPr>
          <a:xfrm>
            <a:off x="1699478" y="5522976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640003" y="5495544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78" name="Text 76"/>
          <p:cNvSpPr/>
          <p:nvPr/>
        </p:nvSpPr>
        <p:spPr>
          <a:xfrm>
            <a:off x="2685723" y="5522976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3626249" y="5495544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80" name="Text 78"/>
          <p:cNvSpPr/>
          <p:nvPr/>
        </p:nvSpPr>
        <p:spPr>
          <a:xfrm>
            <a:off x="3671969" y="5522976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612495" y="5495544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82" name="Text 80"/>
          <p:cNvSpPr/>
          <p:nvPr/>
        </p:nvSpPr>
        <p:spPr>
          <a:xfrm>
            <a:off x="4658215" y="5522976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598741" y="5495544"/>
            <a:ext cx="931382" cy="512064"/>
          </a:xfrm>
          <a:prstGeom prst="roundRect">
            <a:avLst>
              <a:gd name="adj" fmla="val 10714"/>
            </a:avLst>
          </a:prstGeom>
          <a:solidFill>
            <a:srgbClr val="D8F2E2"/>
          </a:solidFill>
          <a:ln/>
        </p:spPr>
      </p:sp>
      <p:sp>
        <p:nvSpPr>
          <p:cNvPr id="84" name="Text 82"/>
          <p:cNvSpPr/>
          <p:nvPr/>
        </p:nvSpPr>
        <p:spPr>
          <a:xfrm>
            <a:off x="5644461" y="5522976"/>
            <a:ext cx="8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818120" y="2377440"/>
            <a:ext cx="3703320" cy="3749040"/>
          </a:xfrm>
          <a:prstGeom prst="roundRect">
            <a:avLst>
              <a:gd name="adj" fmla="val 3457"/>
            </a:avLst>
          </a:prstGeom>
          <a:solidFill>
            <a:srgbClr val="F6F8F5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809244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9, 2026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09244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bookings</a:t>
            </a:r>
            <a:endParaRPr lang="en-US" sz="2400" dirty="0"/>
          </a:p>
        </p:txBody>
      </p:sp>
      <p:sp>
        <p:nvSpPr>
          <p:cNvPr id="88" name="Shape 86"/>
          <p:cNvSpPr/>
          <p:nvPr/>
        </p:nvSpPr>
        <p:spPr>
          <a:xfrm>
            <a:off x="8092440" y="3520440"/>
            <a:ext cx="3200400" cy="0"/>
          </a:xfrm>
          <a:prstGeom prst="line">
            <a:avLst/>
          </a:prstGeom>
          <a:noFill/>
          <a:ln w="12700">
            <a:solidFill>
              <a:srgbClr val="DDE6D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092440" y="3611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8:00 AM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9144000" y="35935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Adventure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SJD-405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8092440" y="4114800"/>
            <a:ext cx="3200400" cy="0"/>
          </a:xfrm>
          <a:prstGeom prst="line">
            <a:avLst/>
          </a:prstGeom>
          <a:noFill/>
          <a:ln w="12700">
            <a:solidFill>
              <a:srgbClr val="DDE6D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92440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7:30 AM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9144000" y="41879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STRADA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SNC-1204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MARINDUQUE   ·   SVR BOOKING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numbers &amp;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printed 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trip gets a unique control number automatically — and prints as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DAR Request of Vehicle form, ready to file.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64008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474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0" y="3474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48840" y="3474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48840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63240" y="3474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3474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0229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83280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0" y="3474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3474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17720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cycles A → Z, then back to A, so numbers never collide even across a busy month.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can also type a control number by hand when recording an older paper booking.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2377440"/>
            <a:ext cx="4160520" cy="3749040"/>
          </a:xfrm>
          <a:prstGeom prst="roundRect">
            <a:avLst>
              <a:gd name="adj" fmla="val 3415"/>
            </a:avLst>
          </a:prstGeom>
          <a:solidFill>
            <a:srgbClr val="0C3D24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80960" y="265176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8A93A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2984" y="2843784"/>
            <a:ext cx="301752" cy="30175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54964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Print-ready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680960" y="3520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for long bond (Folio, 8.5 × 13 in)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680960" y="4087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copies per sheet, with a cut line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680960" y="46542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Signatory names &amp; positions included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680960" y="52212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browser headers/footers before printing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MARINDUQUE   ·   SVR BOOKING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IMPROVING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keep improving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flag a problem or suggest an idea straight from the app — it lands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 an administrator's Feedback Inbox, no email required.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120640" cy="3566160"/>
          </a:xfrm>
          <a:prstGeom prst="roundRect">
            <a:avLst>
              <a:gd name="adj" fmla="val 3590"/>
            </a:avLst>
          </a:prstGeom>
          <a:solidFill>
            <a:srgbClr val="F6F8F5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83464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302666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Feedback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3749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749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65960" y="3749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965960" y="3749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017520" y="3749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3017520" y="3749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069080" y="3749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069080" y="3749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☆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rating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14400" y="493776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50292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calendar view is great — could it also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rejected trips so we know why?"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2606040"/>
            <a:ext cx="5486400" cy="3566160"/>
          </a:xfrm>
          <a:prstGeom prst="roundRect">
            <a:avLst>
              <a:gd name="adj" fmla="val 3590"/>
            </a:avLst>
          </a:prstGeom>
          <a:solidFill>
            <a:srgbClr val="0C3D24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09360" y="283464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8A93A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3026664"/>
            <a:ext cx="301752" cy="30175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32320" y="2926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Inbox  ·  Admins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6309360" y="3703320"/>
            <a:ext cx="4937760" cy="621792"/>
          </a:xfrm>
          <a:prstGeom prst="roundRect">
            <a:avLst>
              <a:gd name="adj" fmla="val 11765"/>
            </a:avLst>
          </a:prstGeom>
          <a:solidFill>
            <a:srgbClr val="123D28"/>
          </a:solidFill>
          <a:ln/>
        </p:spPr>
      </p:sp>
      <p:sp>
        <p:nvSpPr>
          <p:cNvPr id="26" name="Shape 22"/>
          <p:cNvSpPr/>
          <p:nvPr/>
        </p:nvSpPr>
        <p:spPr>
          <a:xfrm>
            <a:off x="6446520" y="385876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8F2E2"/>
          </a:solidFill>
          <a:ln/>
        </p:spPr>
      </p:sp>
      <p:sp>
        <p:nvSpPr>
          <p:cNvPr id="27" name="Text 23"/>
          <p:cNvSpPr/>
          <p:nvPr/>
        </p:nvSpPr>
        <p:spPr>
          <a:xfrm>
            <a:off x="6446520" y="38587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452360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view is great — could it...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309360" y="4453128"/>
            <a:ext cx="4937760" cy="621792"/>
          </a:xfrm>
          <a:prstGeom prst="roundRect">
            <a:avLst>
              <a:gd name="adj" fmla="val 11765"/>
            </a:avLst>
          </a:prstGeom>
          <a:solidFill>
            <a:srgbClr val="123D28"/>
          </a:solidFill>
          <a:ln/>
        </p:spPr>
      </p:sp>
      <p:sp>
        <p:nvSpPr>
          <p:cNvPr id="30" name="Shape 26"/>
          <p:cNvSpPr/>
          <p:nvPr/>
        </p:nvSpPr>
        <p:spPr>
          <a:xfrm>
            <a:off x="6446520" y="460857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DE2E1"/>
          </a:solidFill>
          <a:ln/>
        </p:spPr>
      </p:sp>
      <p:sp>
        <p:nvSpPr>
          <p:cNvPr id="31" name="Text 27"/>
          <p:cNvSpPr/>
          <p:nvPr/>
        </p:nvSpPr>
        <p:spPr>
          <a:xfrm>
            <a:off x="6446520" y="46085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452360" y="4544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button didn't respond on first tap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309360" y="5202936"/>
            <a:ext cx="4937760" cy="621792"/>
          </a:xfrm>
          <a:prstGeom prst="roundRect">
            <a:avLst>
              <a:gd name="adj" fmla="val 11765"/>
            </a:avLst>
          </a:prstGeom>
          <a:solidFill>
            <a:srgbClr val="123D28"/>
          </a:solidFill>
          <a:ln/>
        </p:spPr>
      </p:sp>
      <p:sp>
        <p:nvSpPr>
          <p:cNvPr id="34" name="Shape 30"/>
          <p:cNvSpPr/>
          <p:nvPr/>
        </p:nvSpPr>
        <p:spPr>
          <a:xfrm>
            <a:off x="6446520" y="535838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9EDEA"/>
          </a:solidFill>
          <a:ln/>
        </p:spPr>
      </p:sp>
      <p:sp>
        <p:nvSpPr>
          <p:cNvPr id="35" name="Text 31"/>
          <p:cNvSpPr/>
          <p:nvPr/>
        </p:nvSpPr>
        <p:spPr>
          <a:xfrm>
            <a:off x="6446520" y="53583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7452360" y="5294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Really smooth compared to the old slips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MARINDUQUE   ·   SVR BOOKING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ANYWHERE, ANY DEVICE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web, or in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pocket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system runs in any browser, and an Android app wraps the same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full-screen for staff on the move.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364662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3401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37764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APK directly from the site — no Play Store needed.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38912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07" y="4606747"/>
            <a:ext cx="341986" cy="3419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43616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Guide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00200" y="47365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PDF guide covers every screen, step by step.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534924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5566867"/>
            <a:ext cx="341986" cy="3419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53218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Help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600200" y="569671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 link opens the same guide from inside the app any time.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321040" y="868680"/>
            <a:ext cx="3017520" cy="5166360"/>
          </a:xfrm>
          <a:prstGeom prst="roundRect">
            <a:avLst>
              <a:gd name="adj" fmla="val 10606"/>
            </a:avLst>
          </a:prstGeom>
          <a:solidFill>
            <a:srgbClr val="0C3D24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30768" y="1188720"/>
            <a:ext cx="2798064" cy="452628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/>
        </p:spPr>
      </p:sp>
      <p:sp>
        <p:nvSpPr>
          <p:cNvPr id="19" name="Text 14"/>
          <p:cNvSpPr/>
          <p:nvPr/>
        </p:nvSpPr>
        <p:spPr>
          <a:xfrm>
            <a:off x="859536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Booking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595360" y="178308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21" name="Text 16"/>
          <p:cNvSpPr/>
          <p:nvPr/>
        </p:nvSpPr>
        <p:spPr>
          <a:xfrm>
            <a:off x="8732520" y="18562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260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9509760" y="2039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595360" y="260604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D8F2E2"/>
          </a:solidFill>
          <a:ln/>
        </p:spPr>
      </p:sp>
      <p:sp>
        <p:nvSpPr>
          <p:cNvPr id="24" name="Text 19"/>
          <p:cNvSpPr/>
          <p:nvPr/>
        </p:nvSpPr>
        <p:spPr>
          <a:xfrm>
            <a:off x="8732520" y="2679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6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9509760" y="2862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595360" y="35204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F7A4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6178" y="3661258"/>
            <a:ext cx="221285" cy="22128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35440" y="35570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Adventure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Jul 12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MARINDUQUE   ·   SVR BOOKING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6400800" cy="6400800"/>
          </a:xfrm>
          <a:prstGeom prst="ellipse">
            <a:avLst/>
          </a:prstGeom>
          <a:solidFill>
            <a:srgbClr val="0F7A4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108960"/>
            <a:ext cx="5669280" cy="5669280"/>
          </a:xfrm>
          <a:prstGeom prst="ellipse">
            <a:avLst/>
          </a:prstGeom>
          <a:solidFill>
            <a:srgbClr val="E8A93A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77724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record, from request to signature.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3048" y="461772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0F7A41"/>
          </a:solidFill>
          <a:ln/>
        </p:spPr>
      </p:sp>
      <p:sp>
        <p:nvSpPr>
          <p:cNvPr id="8" name="Text 5"/>
          <p:cNvSpPr/>
          <p:nvPr/>
        </p:nvSpPr>
        <p:spPr>
          <a:xfrm>
            <a:off x="3813048" y="46177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svr-booking-dar.vercel.app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Louis Madrigal   ·   Department of Agrarian Reform, Marinduque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Vehicle Request (SVR) System</dc:title>
  <dc:subject>PptxGenJS Presentation</dc:subject>
  <dc:creator>Louis Madrigal</dc:creator>
  <cp:lastModifiedBy>Louis Madrigal</cp:lastModifiedBy>
  <cp:revision>1</cp:revision>
  <dcterms:created xsi:type="dcterms:W3CDTF">2026-07-07T03:51:39Z</dcterms:created>
  <dcterms:modified xsi:type="dcterms:W3CDTF">2026-07-07T03:51:39Z</dcterms:modified>
</cp:coreProperties>
</file>